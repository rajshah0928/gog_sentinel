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>
                <a:solidFill>
                  <a:srgbClr val="E6EDF5"/>
                </a:solidFill>
                <a:latin typeface="Inter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3B82F6"/>
                </a:solidFill>
                <a:latin typeface="Inter"/>
              </a:rPr>
              <a:t>Unified Viewing &amp; Metadata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FB0C6"/>
                </a:solidFill>
                <a:latin typeface="Consolas"/>
              </a:rPr>
              <a:t>Gujarat Police Innovation Challenge 2026  ·  Model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C6B86"/>
                </a:solidFill>
                <a:latin typeface="Consolas"/>
              </a:rPr>
              <a:t>Built by RuVision Thinking Labs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2148840"/>
            <a:ext cx="146304" cy="14630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26 Government Departments operate independent CCTV systems — different vendors, VMS platforms, storage architectures, and retention periods (7 to 15+ days).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Central command centres must access these feeds through multiple separate viewer systems — no single pane of glass.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High-value law-enforcement databases already exist and are digitized — VAHAN (vehicle registration), eGujCop / CCTNS (stolen vehicles, wanted persons), AFIS / NAFIS — but they are siloed from live video.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Result: no automated, real-time correlation between what a camera sees and what these databases already know.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SOLUTION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6EDF5"/>
                </a:solidFill>
                <a:latin typeface="Inter"/>
              </a:rPr>
              <a:t>Model 1 (Foundation) + Model 2 (Primary) — Registry &amp; GIS Foundation with Unified Viewing &amp; Metadata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Direct RTSP / ONVIF / vendor-API connection to each camera or VMS.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No middleware or federation layer introduced.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Departmental VMS and storage systems remain completely untouched and continue operating independently.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00200"/>
            <a:ext cx="4297680" cy="4389120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82F6"/>
                </a:solidFill>
                <a:latin typeface="Consolas"/>
              </a:rPr>
              <a:t>WHY MODEL 2, NOT 3/4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86000"/>
            <a:ext cx="3794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9FB0C6"/>
                </a:solidFill>
                <a:latin typeface="Inter"/>
              </a:rPr>
              <a:t>▸ 26 departments' VMS/storage diversity makes a federation layer a multi-department program — not a hackathon-timeline build.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9FB0C6"/>
                </a:solidFill>
                <a:latin typeface="Inter"/>
              </a:rPr>
              <a:t>▸ Delivers exactly the two capabilities the evaluation tests: live unified view + AI vehicle tracing.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9FB0C6"/>
                </a:solidFill>
                <a:latin typeface="Inter"/>
              </a:rPr>
              <a:t>▸ Lowest integration risk: zero dependency on any department changing its systems.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>
                <a:solidFill>
                  <a:srgbClr val="9FB0C6"/>
                </a:solidFill>
                <a:latin typeface="Inter"/>
              </a:rPr>
              <a:t>▸ Model 1 (Registry &amp; GIS Foundation) is built underneath as the mandatory foundation every submission requires.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MANDATORY FOUNDATION, BUILT UNDERNEATH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Model 1 Foundation — Registry &amp; 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9FB0C6"/>
                </a:solidFill>
                <a:latin typeface="Inter"/>
              </a:rPr>
              <a:t>▸ Camera registry auto-synced from the live catalogue — all 30 sandbox cameras, zero manual entry.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9FB0C6"/>
                </a:solidFill>
                <a:latin typeface="Inter"/>
              </a:rPr>
              <a:t>▸ Two additional onboarding paths demonstrated: CSV bulk-import and a manual single-camera entry form.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50">
                <a:solidFill>
                  <a:srgbClr val="9FB0C6"/>
                </a:solidFill>
                <a:latin typeface="Inter"/>
              </a:rPr>
              <a:t>▸ Department and camera type are inferred from location-name patterns (toll/gate/bypass/junction) — the same signal already validated in our plate-legibility findings.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6492240" cy="2194560"/>
          </a:xfrm>
          <a:prstGeom prst="roundRect">
            <a:avLst>
              <a:gd name="adj" fmla="val 6000"/>
            </a:avLst>
          </a:prstGeom>
          <a:solidFill>
            <a:srgbClr val="1A140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33087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HONEST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>
                <a:solidFill>
                  <a:srgbClr val="9FB0C6"/>
                </a:solidFill>
                <a:latin typeface="Inter"/>
              </a:rPr>
              <a:t>▸ GIS map: 23 of 30 cameras geocoded and plotted; 7 failed on genuinely ambiguous location names and are omitted from the map, not guessed — still visible in the registry table.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>
                <a:solidFill>
                  <a:srgbClr val="9FB0C6"/>
                </a:solidFill>
                <a:latin typeface="Inter"/>
              </a:rPr>
              <a:t>▸ Caught one bad match during development (a location name that resolved to Kashmir); rejected by a Gujarat bounding-box check before it could reach the map.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>
                <a:solidFill>
                  <a:srgbClr val="9FB0C6"/>
                </a:solidFill>
                <a:latin typeface="Inter"/>
              </a:rPr>
              <a:t>▸ Department/camera-type mapping is illustrative, inferred from naming patterns — not department-supplied ownership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63040"/>
            <a:ext cx="4297680" cy="2834640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82F6"/>
                </a:solidFill>
                <a:latin typeface="Consolas"/>
              </a:rPr>
              <a:t>GAP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3794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9FB0C6"/>
                </a:solidFill>
                <a:latin typeface="Inter"/>
              </a:rPr>
              <a:t>▸ Disconnected-camera count and stale-detection count, both live.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9FB0C6"/>
                </a:solidFill>
                <a:latin typeface="Inter"/>
              </a:rPr>
              <a:t>▸ ANPR-viability breakdown by camera type: toll/gate/bypass viable vs. wide junction cameras situational-only.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9FB0C6"/>
                </a:solidFill>
                <a:latin typeface="Inter"/>
              </a:rPr>
              <a:t>▸ Surfaces the same camera-angle finding from our AI-analytics debugging story as an operational coverage 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4805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C6B86"/>
                </a:solidFill>
                <a:latin typeface="Inter"/>
              </a:rPr>
              <a:t>[SCREENSHOT: Registry tab — map view]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End-to-End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0847" y="23774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11823"/>
          </a:solidFill>
          <a:ln w="19050">
            <a:solidFill>
              <a:srgbClr val="9FB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6EDF5"/>
                </a:solidFill>
              </a:rPr>
              <a:t>Departmental
CCTV / VMS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2487" y="26974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5C6B86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8519" y="23774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11823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6EDF5"/>
                </a:solidFill>
              </a:rPr>
              <a:t>Capture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0159" y="26974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5C6B86"/>
                </a:solidFill>
                <a:latin typeface="Inter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6191" y="23774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11823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6EDF5"/>
                </a:solidFill>
              </a:rPr>
              <a:t>ANPR
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7831" y="26974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5C6B86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23774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11823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6EDF5"/>
                </a:solidFill>
              </a:rPr>
              <a:t>Watchlist &amp;
Alerting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5503" y="26974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5C6B86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1535" y="23774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11823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6EDF5"/>
                </a:solidFill>
              </a:rPr>
              <a:t>Route
Reconstruction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3175" y="26974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5C6B86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19207" y="2377440"/>
            <a:ext cx="1691640" cy="1051560"/>
          </a:xfrm>
          <a:prstGeom prst="roundRect">
            <a:avLst>
              <a:gd name="adj" fmla="val 12000"/>
            </a:avLst>
          </a:prstGeom>
          <a:solidFill>
            <a:srgbClr val="111823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E6EDF5"/>
                </a:solidFill>
              </a:rPr>
              <a:t>Unified
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9FB0C6"/>
                </a:solidFill>
                <a:latin typeface="Inter"/>
              </a:rPr>
              <a:t>No video is ever centrally stored — only structured detection metadata (plate text, camera, timestamp, confidence).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663440"/>
            <a:ext cx="8503920" cy="1371600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48463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9FB0C6"/>
                </a:solidFill>
                <a:latin typeface="Inter"/>
              </a:rPr>
              <a:t>▸ Capture: TCP-forced RTSP, PTS-derived timing, exponential-backoff reconnect.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9FB0C6"/>
                </a:solidFill>
                <a:latin typeface="Inter"/>
              </a:rPr>
              <a:t>▸ Analytics: YOLO plate detector + PaddleOCR, CPU-only, configurable sample rate.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>
                <a:solidFill>
                  <a:srgbClr val="9FB0C6"/>
                </a:solidFill>
                <a:latin typeface="Inter"/>
              </a:rPr>
              <a:t>▸ Storage: SQLite metadata log (schema-compatible upgrade path to PostgreSQL).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ENGINEERING — PROVEN, NOT JUST DESIGNED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Live Stream Ingestion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TCP-forced RTSP, PTS-derived timing (never wall-clock or declared FPS), exponential backoff reconnect.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Tolerant of decoder warm-up noise and mixed H.264 / H.265 codecs — confirmed live on the sandbox grid.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Camera inventory always pulled live from the gateway catalogue — zero hardcoded camera 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10881360" cy="2651760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C55E"/>
                </a:solidFill>
                <a:latin typeface="Consolas"/>
              </a:rPr>
              <a:t>VALIDATED AGAINST THE LIVE 30-CAMERA 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>
                <a:solidFill>
                  <a:srgbClr val="9FB0C6"/>
                </a:solidFill>
                <a:latin typeface="Inter"/>
              </a:rPr>
              <a:t>▸ Found and fixed a real cross-thread cv2.VideoCapture segfault during load testing — a genuine stability bug, not a hypothetical one.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>
                <a:solidFill>
                  <a:srgbClr val="9FB0C6"/>
                </a:solidFill>
                <a:latin typeface="Inter"/>
              </a:rPr>
              <a:t>▸ Confirmed automatic reconnect/recovery after a forced restart.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500">
                <a:solidFill>
                  <a:srgbClr val="9FB0C6"/>
                </a:solidFill>
                <a:latin typeface="Inter"/>
              </a:rPr>
              <a:t>▸ Ran a clean, multi-camera, multi-hour unattended session: zero crashes, zero unwanted reconnects, 480+ real detections logged.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AI-POWERED VIDEO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Finding — and Fixing — the Plate-Legibility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9903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FB0C6"/>
                </a:solidFill>
                <a:latin typeface="Inter"/>
              </a:rPr>
              <a:t>Most sandbox cameras are wide-angle overhead junction cams — genuinely not plate-resolvable at distance. An honest finding, not a failure.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5000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FB0C6"/>
                </a:solidFill>
                <a:latin typeface="Inter"/>
              </a:rPr>
              <a:t>Went back to the camera catalogue's own display names and found a toll-plaza camera ("Tollnaka") — camera metadata, not just camera count, was the actionable signal.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FB0C6"/>
                </a:solidFill>
                <a:latin typeface="Inter"/>
              </a:rPr>
              <a:t>On that camera's legible plate crop, our first OCR engine (EasyOCR) capped at ~0.3 confidence after heavy tuning. Swapping to PaddleOCR on the identical crop, no other change: 0.87 confidence.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1538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97096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FB0C6"/>
                </a:solidFill>
                <a:latin typeface="Inter"/>
              </a:rPr>
              <a:t>Even then the real pipeline still failed — root cause was our own bounding-box crop clipping characters. Fixed by padding the detector's box 75% of its own size, verified against real detector output.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29784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9FB0C6"/>
                </a:solidFill>
                <a:latin typeface="Inter"/>
              </a:rPr>
              <a:t>Result over a multi-hour unattended run: 480+ detections above threshold across three independently-confirmed cameras — full plausible Indian plates, not fragments (e.g. GJ05AU9828 at 0.96 confidence).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AI ANALYTICS — LIVE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Detection Feed: Watch the AI Working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tection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10149840" cy="5119924"/>
          </a:xfrm>
          <a:prstGeom prst="rect">
            <a:avLst/>
          </a:prstGeom>
          <a:ln w="19050">
            <a:solidFill>
              <a:srgbClr val="1E2A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05840" y="663782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C6B86"/>
                </a:solidFill>
                <a:latin typeface="Consolas"/>
              </a:rPr>
              <a:t>Real crop + real annotated frame (bounding box drawn by the detector) for two different live-detected vehicles — not staged.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WATCHLIST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Real-Time Alerting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50">
                <a:solidFill>
                  <a:srgbClr val="9FB0C6"/>
                </a:solidFill>
                <a:latin typeface="Inter"/>
              </a:rPr>
              <a:t>▸ Every OCR read — not sampled after the fact — is normalized and matched immediately.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50">
                <a:solidFill>
                  <a:srgbClr val="9FB0C6"/>
                </a:solidFill>
                <a:latin typeface="Inter"/>
              </a:rPr>
              <a:t>▸ Two-pass matching: exact + OCR-confusion-aware pass (0/O, 1/I, 5/S, 8/B, 2/Z), then fuzzy-similarity fallback.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50">
                <a:solidFill>
                  <a:srgbClr val="9FB0C6"/>
                </a:solidFill>
                <a:latin typeface="Inter"/>
              </a:rPr>
              <a:t>▸ A match writes an alert with camera, plate, PTS timestamp, confidence, and matched entry — visible on the dashboard within seconds, no manual refresh.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50">
                <a:solidFill>
                  <a:srgbClr val="9FB0C6"/>
                </a:solidFill>
                <a:latin typeface="Inter"/>
              </a:rPr>
              <a:t>▸ Designed to plug into VAHAN / eGujCop-CCTNS as the real watchlist source in production; a representative watchlist is used for this demo, as explicitly permitted.</a:t>
            </a:r>
          </a:p>
        </p:txBody>
      </p:sp>
      <p:pic>
        <p:nvPicPr>
          <p:cNvPr id="8" name="Picture 7" descr="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63040"/>
            <a:ext cx="5623560" cy="2657770"/>
          </a:xfrm>
          <a:prstGeom prst="rect">
            <a:avLst/>
          </a:prstGeom>
          <a:ln w="19050">
            <a:solidFill>
              <a:srgbClr val="1E2A3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989320" y="4175674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C6B86"/>
                </a:solidFill>
                <a:latin typeface="Consolas"/>
              </a:rPr>
              <a:t>Real watchlist match — 100% confidence, real plate crop, real timestamp.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THE EVALUATION'S CORE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Vehicle Route Reconstruction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>
                <a:solidFill>
                  <a:srgbClr val="9FB0C6"/>
                </a:solidFill>
                <a:latin typeface="Inter"/>
              </a:rPr>
              <a:t>▸ Given a plate, returns every (camera, location, timestamp) detection in chronological order.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>
                <a:solidFill>
                  <a:srgbClr val="9FB0C6"/>
                </a:solidFill>
                <a:latin typeface="Inter"/>
              </a:rPr>
              <a:t>▸ Cross-camera candidate found: plate GJ18ZT1282 detected on cam06 (Timbavadi gate, Junagadh) and cam22 (BK Mervada tran Rasta) ~26 hours apart, OCR confidence 0.95 and 0.87 — linked via the same Z/2 confusion-variant matching already used for the single-camera case below.</a:t>
            </a:r>
          </a:p>
        </p:txBody>
      </p:sp>
      <p:pic>
        <p:nvPicPr>
          <p:cNvPr id="8" name="Picture 7" descr="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17320"/>
            <a:ext cx="5623560" cy="2830847"/>
          </a:xfrm>
          <a:prstGeom prst="rect">
            <a:avLst/>
          </a:prstGeom>
          <a:ln w="19050">
            <a:solidFill>
              <a:srgbClr val="1E2A3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989320" y="4303031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C6B86"/>
                </a:solidFill>
                <a:latin typeface="Consolas"/>
              </a:rPr>
              <a:t>Real search result — visual timeline with plate crop.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5120640" cy="2651760"/>
          </a:xfrm>
          <a:prstGeom prst="roundRect">
            <a:avLst>
              <a:gd name="adj" fmla="val 6000"/>
            </a:avLst>
          </a:prstGeom>
          <a:solidFill>
            <a:srgbClr val="1A140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7588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9E0B"/>
                </a:solidFill>
                <a:latin typeface="Consolas"/>
              </a:rPr>
              <a:t>HONEST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>
                <a:solidFill>
                  <a:srgbClr val="9FB0C6"/>
                </a:solidFill>
                <a:latin typeface="Inter"/>
              </a:rPr>
              <a:t>▸ Three cameras independently confirmed ANPR-viable, ran for days, 21,000+ real detections.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>
                <a:solidFill>
                  <a:srgbClr val="9FB0C6"/>
                </a:solidFill>
                <a:latin typeface="Inter"/>
              </a:rPr>
              <a:t>▸ One cross-camera candidate found via exact + confusion-variant matching (GJ18ZT1282 / GJ182T1282, cam06 &lt;-&gt; cam22): a strong OCR-level match, not database-verified as the same physical vehicle — reported as candidate evidence, not certainty.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>
                <a:solidFill>
                  <a:srgbClr val="9FB0C6"/>
                </a:solidFill>
                <a:latin typeface="Inter"/>
              </a:rPr>
              <a:t>▸ The confirmed, unambiguous trace remains the single-camera case: one vehicle detected 4 times within 16 seconds on cam12, correctly linked across BV2807 / 8V2807 OCR readings.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00">
                <a:solidFill>
                  <a:srgbClr val="9FB0C6"/>
                </a:solidFill>
                <a:latin typeface="Inter"/>
              </a:rPr>
              <a:t>▸ A map view of the same route is now available alongside this list view, plotted using the Model 1 registry's camera coordinates.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UNIFIED CONTROL-ROOM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The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mera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394960" cy="2732658"/>
          </a:xfrm>
          <a:prstGeom prst="rect">
            <a:avLst/>
          </a:prstGeom>
          <a:ln w="19050">
            <a:solidFill>
              <a:srgbClr val="1E2A3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0080" y="420484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C6B86"/>
                </a:solidFill>
                <a:latin typeface="Consolas"/>
              </a:rPr>
              <a:t>Camera grid — live thumbnails, last-seen plate per camera.</a:t>
            </a:r>
          </a:p>
        </p:txBody>
      </p:sp>
      <p:pic>
        <p:nvPicPr>
          <p:cNvPr id="9" name="Picture 8" descr="watch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17320"/>
            <a:ext cx="5394960" cy="2732658"/>
          </a:xfrm>
          <a:prstGeom prst="rect">
            <a:avLst/>
          </a:prstGeom>
          <a:ln w="19050">
            <a:solidFill>
              <a:srgbClr val="1E2A3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72200" y="420484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C6B86"/>
                </a:solidFill>
                <a:latin typeface="Consolas"/>
              </a:rPr>
              <a:t>Watchlist administration.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Consola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733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DF5"/>
                </a:solidFill>
                <a:latin typeface="Inter"/>
              </a:rPr>
              <a:t>OpenCV + FFmpeg backend (Python)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963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Consolas"/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963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DF5"/>
                </a:solidFill>
                <a:latin typeface="Inter"/>
              </a:rPr>
              <a:t>Ultralytics YOLO — pretrained, CPU-only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Consolas"/>
              </a:rPr>
              <a:t>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192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DF5"/>
                </a:solidFill>
                <a:latin typeface="Inter"/>
              </a:rPr>
              <a:t>PaddleOCR (PP-OCRv6)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422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Consolas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422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DF5"/>
                </a:solidFill>
                <a:latin typeface="Inter"/>
              </a:rPr>
              <a:t>SQLite (pilot); schema-compatible path to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111823"/>
          </a:solidFill>
          <a:ln w="12700">
            <a:solidFill>
              <a:srgbClr val="1E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651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82F6"/>
                </a:solidFill>
                <a:latin typeface="Consola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9651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DF5"/>
                </a:solidFill>
                <a:latin typeface="Inter"/>
              </a:rPr>
              <a:t>Streamlit, custom dark theme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FB0C6"/>
                </a:solidFill>
                <a:latin typeface="Inter"/>
              </a:rPr>
              <a:t>No GPU, no external message bus required at this scale — deliberately minimal-dependency for fast, reliable deployment.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PATH TO STATEWIDE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Scalability, Security &amp;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Horizontal scale-out: independent capture/ANPR workers, sharded by camera set — no component assumes a single-machine camera count.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Edge pre-filtering + GPU/accelerator path is the realistic route to ~80,000-camera scale; this prototype's frame-sampling and confidence knobs are exactly what moves to edge-side config.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Credentials never logged (verified in code); consume-only design — never pushes to or controls any gateway.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No department's existing VMS, storage, or retention policy is touched.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600">
                <a:solidFill>
                  <a:srgbClr val="9FB0C6"/>
                </a:solidFill>
                <a:latin typeface="Inter"/>
              </a:rPr>
              <a:t>▸ RBAC, audit logging, and TLS-everywhere are the production hardening path beyond this prototype.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Operational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800">
                <a:solidFill>
                  <a:srgbClr val="9FB0C6"/>
                </a:solidFill>
                <a:latin typeface="Inter"/>
              </a:rPr>
              <a:t>▸ Single pane of glass across departments — without a multi-year federation program.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800">
                <a:solidFill>
                  <a:srgbClr val="9FB0C6"/>
                </a:solidFill>
                <a:latin typeface="Inter"/>
              </a:rPr>
              <a:t>▸ Automated, continuous watchlist correlation — proactive alerting instead of manual after-the-fact video review.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1800">
                <a:solidFill>
                  <a:srgbClr val="9FB0C6"/>
                </a:solidFill>
                <a:latin typeface="Inter"/>
              </a:rPr>
              <a:t>▸ Fast, low-risk path to statewide expansion: same architecture, more camera shards, no redesign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Consolas"/>
              </a:rPr>
              <a:t>HONEST ABOUT CURRENT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DF5"/>
                </a:solidFill>
                <a:latin typeface="Inter"/>
              </a:rPr>
              <a:t>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Face Recognition (FRS) and other analytics — explicitly out of scope for this build, bonus territory.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Live VAHAN / eGujCop integration — currently a representative demo watchlist, as explicitly permitted by the challenge rules.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700">
                <a:solidFill>
                  <a:srgbClr val="9FB0C6"/>
                </a:solidFill>
                <a:latin typeface="Inter"/>
              </a:rPr>
              <a:t>▸ Edge deployment pilot for bandwidth-constrained districts.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SENTINEL — Gujarat Police Innovation Challenge 2026 · Model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C6B86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vision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19" y="182880"/>
            <a:ext cx="53395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E6EDF5"/>
                </a:solidFill>
                <a:latin typeface="Inte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3B82F6"/>
                </a:solidFill>
                <a:latin typeface="Inter"/>
              </a:rPr>
              <a:t>SENTINEL — Unified Viewing &amp; Metadata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